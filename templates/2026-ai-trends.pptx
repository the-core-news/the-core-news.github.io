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년 AI 트렌드 핵심 요약</a:t>
            </a:r>
          </a:p>
          <a:p>
            <a:r>
              <a:t>성남 임님을 위한 프리미엄 리포트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 · Physical AI · Sovereign AI · 8 대 핵심 트렌드</a:t>
            </a:r>
          </a:p>
          <a:p>
            <a:r>
              <a:t>Tavily 웹 검색 기반 최신 동향 분석</a:t>
            </a:r>
          </a:p>
          <a:p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AI Agent 의 부상 - '스스로 판단하는 AI'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핵심 트렌드: 스스로 판단하고 업무를 수행하는 에이전틱 AI</a:t>
            </a:r>
          </a:p>
          <a:p>
            <a:pPr>
              <a:spcAft>
                <a:spcPts val="1000"/>
              </a:spcAft>
              <a:defRPr sz="1600"/>
            </a:pPr>
            <a:r>
              <a:t>주요 예측: Microsoft, Gartner 등 2026 년 핵심으로 꼽음</a:t>
            </a:r>
          </a:p>
          <a:p>
            <a:pPr>
              <a:spcAft>
                <a:spcPts val="1000"/>
              </a:spcAft>
              <a:defRPr sz="1600"/>
            </a:pPr>
            <a:r>
              <a:t>적용 분야: 기업 프로세스 자동화, 고객 서비스, 개발 도구</a:t>
            </a:r>
          </a:p>
          <a:p>
            <a:pPr>
              <a:spcAft>
                <a:spcPts val="1000"/>
              </a:spcAft>
              <a:defRPr sz="1600"/>
            </a:pPr>
            <a:r>
              <a:t>진화 방향: Human-AI Collaboration 기반 Autonomous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Physical AI 의 상용화 - '물리 세계로 확장'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핵심 트렌드: 로봇, 자율주행차, 드론, 웨어러블 기기 활용</a:t>
            </a:r>
          </a:p>
          <a:p>
            <a:pPr>
              <a:spcAft>
                <a:spcPts val="1000"/>
              </a:spcAft>
              <a:defRPr sz="1600"/>
            </a:pPr>
            <a:r>
              <a:t>산업 적용: 물류, 제조, 건설, 농업 등 다양한 분야에서 자동화</a:t>
            </a:r>
          </a:p>
          <a:p>
            <a:pPr>
              <a:spcAft>
                <a:spcPts val="1000"/>
              </a:spcAft>
              <a:defRPr sz="1600"/>
            </a:pPr>
            <a:r>
              <a:t>비즈니스 임팩트: 단순 반복 작업 AI 대체, 비용 효율성 극대화</a:t>
            </a:r>
          </a:p>
          <a:p>
            <a:pPr>
              <a:spcAft>
                <a:spcPts val="1000"/>
              </a:spcAft>
              <a:defRPr sz="1600"/>
            </a:pPr>
            <a:r>
              <a:t>2026 년 전망: 물리 AI 가 산업 표준 인프라로 진화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Generative AI &amp; Sovereign AI - '실질적 적용'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Generative AI 진화: clever chatbots → action-taking assistants</a:t>
            </a:r>
          </a:p>
          <a:p>
            <a:pPr>
              <a:spcAft>
                <a:spcPts val="1000"/>
              </a:spcAft>
              <a:defRPr sz="1600"/>
            </a:pPr>
            <a:r>
              <a:t>적용 분야: 마케팅, 콘텐츠 제작, 비즈니스 혁신 도구 확산</a:t>
            </a:r>
          </a:p>
          <a:p>
            <a:pPr>
              <a:spcAft>
                <a:spcPts val="1000"/>
              </a:spcAft>
              <a:defRPr sz="1600"/>
            </a:pPr>
            <a:r>
              <a:t>Sovereign AI 부상: 국가 경쟁력의 핵심 인프라</a:t>
            </a:r>
          </a:p>
          <a:p>
            <a:pPr>
              <a:spcAft>
                <a:spcPts val="1000"/>
              </a:spcAft>
              <a:defRPr sz="1600"/>
            </a:pPr>
            <a:r>
              <a:t>거시 영향: AI 기술이 경제·지정학적 변수로 작용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2026 년 AI 8 대 핵심 트렌드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1. 일상 속 에이전트들 (Autonomous Agents in Daily Life)</a:t>
            </a:r>
          </a:p>
          <a:p>
            <a:pPr>
              <a:spcAft>
                <a:spcPts val="1000"/>
              </a:spcAft>
              <a:defRPr sz="1600"/>
            </a:pPr>
            <a:r>
              <a:t>2. 합성 콘텐츠 위기 (Synthetic Content Crisis)</a:t>
            </a:r>
          </a:p>
          <a:p>
            <a:pPr>
              <a:spcAft>
                <a:spcPts val="1000"/>
              </a:spcAft>
              <a:defRPr sz="1600"/>
            </a:pPr>
            <a:r>
              <a:t>3. 미래의 일자리 (Future of Jobs)</a:t>
            </a:r>
          </a:p>
          <a:p>
            <a:pPr>
              <a:spcAft>
                <a:spcPts val="1000"/>
              </a:spcAft>
              <a:defRPr sz="1600"/>
            </a:pPr>
            <a:r>
              <a:t>4. 물리적 세계의 AI (Physical World AI)</a:t>
            </a:r>
          </a:p>
          <a:p>
            <a:pPr>
              <a:spcAft>
                <a:spcPts val="1000"/>
              </a:spcAft>
              <a:defRPr sz="1600"/>
            </a:pPr>
            <a:r>
              <a:t>5. AI 주도 지정학적 갈등 (AI Geopolitics)</a:t>
            </a:r>
          </a:p>
          <a:p>
            <a:pPr>
              <a:spcAft>
                <a:spcPts val="1000"/>
              </a:spcAft>
              <a:defRPr sz="1600"/>
            </a:pPr>
            <a:r>
              <a:t>6. AI-Native 개발 플랫폼 (AI-Native Dev Platforms)</a:t>
            </a:r>
          </a:p>
          <a:p>
            <a:pPr>
              <a:spcAft>
                <a:spcPts val="1000"/>
              </a:spcAft>
              <a:defRPr sz="1600"/>
            </a:pPr>
            <a:r>
              <a:t>7. AI 슈퍼컴퓨팅 (AI Supercomputing)</a:t>
            </a:r>
          </a:p>
          <a:p>
            <a:pPr>
              <a:spcAft>
                <a:spcPts val="1000"/>
              </a:spcAft>
              <a:defRPr sz="1600"/>
            </a:pPr>
            <a:r>
              <a:t>8. 준밀 컴퓨팅 (Confidential Computing)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결론 - 기업이 준비해야 할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AI Agent 전략 수립: Autonomous Agents 도입 계획</a:t>
            </a:r>
          </a:p>
          <a:p>
            <a:pPr>
              <a:spcAft>
                <a:spcPts val="1000"/>
              </a:spcAft>
              <a:defRPr sz="1600"/>
            </a:pPr>
            <a:r>
              <a:t>Physical AI 검토: 로봇, 자동화 장비 투자 가능성</a:t>
            </a:r>
          </a:p>
          <a:p>
            <a:pPr>
              <a:spcAft>
                <a:spcPts val="1000"/>
              </a:spcAft>
              <a:defRPr sz="1600"/>
            </a:pPr>
            <a:r>
              <a:t>Generative AI 활용: 마케팅·콘텐츠 제작 도구 적용</a:t>
            </a:r>
          </a:p>
          <a:p>
            <a:pPr>
              <a:spcAft>
                <a:spcPts val="1000"/>
              </a:spcAft>
              <a:defRPr sz="1600"/>
            </a:pPr>
            <a:r>
              <a:t>Sovereign AI 대비: 규제 대응 및 국가 경쟁력 강화</a:t>
            </a:r>
          </a:p>
          <a:p>
            <a:pPr>
              <a:spcAft>
                <a:spcPts val="1000"/>
              </a:spcAft>
              <a:defRPr sz="1600"/>
            </a:pPr>
            <a:r>
              <a:t>8 대 트렌드 모니터링: 분기별 리포트 업데이트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